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5F4548-04D4-FEAE-D078-1B2585C74333}" v="173" dt="2026-02-09T16:50:17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PDF Q&amp;A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2C39A"/>
                </a:solidFill>
              </a:defRPr>
            </a:pPr>
            <a:r>
              <a:t>AI-Powered Document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CADCFC"/>
                </a:solidFill>
              </a:defRPr>
            </a:pPr>
            <a:r>
              <a:t>Architecture &amp; Implementation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High-Level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109728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PDF Input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0" y="1508760"/>
            <a:ext cx="274320" cy="27432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60320" y="1097280"/>
            <a:ext cx="1828800" cy="109728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Text Extraction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1508760"/>
            <a:ext cx="274320" cy="27432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1828800" cy="109728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Text Chunking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92240" y="1508760"/>
            <a:ext cx="274320" cy="27432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59" y="1097280"/>
            <a:ext cx="1828800" cy="109728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Vector Embeddings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834639"/>
            <a:ext cx="1828800" cy="109728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FAISS Vector Store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34840" y="3246120"/>
            <a:ext cx="274320" cy="27432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9160" y="2834639"/>
            <a:ext cx="1828800" cy="109728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LLM Response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520440" y="2194560"/>
            <a:ext cx="4160519" cy="640079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228599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User Query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Component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Data Ingestion &amp; 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6784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1. PDF Text Extraction (PyMuPDF)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8662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Library: PyMuPDF (fitz) - High-performance PDF parsing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Function: Extracts raw text from all pages sequentially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Rationale: Fast, reliable, handles complex PDF structures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73152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75635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2. Text Chunking (CharacterTextSplitter)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751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Parameters: 1000-char chunks with 200-char overlap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Function: Splits text while preserving context at boundaries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Rationale: Optimal balance between context and retrieval 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73152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01960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3. Vector Embeddings (OpenAI)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3839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Model: OpenAI text-embedding-ada-002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Process: Batched processing (10 chunks/batch) for efficiency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Rationale: State-of-the-art semantic understanding, API rate limit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Component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Retrieval &amp; Generation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10972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6784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4. FAISS Vector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8662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Technology: Facebook AI Similarity Search (FAISS)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Function: Efficient similarity search with k=4 nearest neighbors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Rationale: Millisecond-scale retrieval, optimized for large-scale vector 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697480"/>
            <a:ext cx="73152" cy="10972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69372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5. LLM Response Generation (ChatGPT)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251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Model: ChatOpenAI with temperature=0 (deterministic)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Context: Top-4 retrieved chunks formatted as context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Rationale: Grounded responses, prevents hallucination with strict context constraint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73152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01960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6. RAG Chain (LangChain LCEL)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3839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Pipeline: Retriever → Format → Prompt → LLM → Parse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Features: Streaming support, composable chains, automatic context formatting</a:t>
            </a:r>
          </a:p>
          <a:p>
            <a:pPr>
              <a:spcAft>
                <a:spcPts val="300"/>
              </a:spcAft>
              <a:defRPr sz="1200">
                <a:solidFill>
                  <a:srgbClr val="64748B"/>
                </a:solidFill>
              </a:defRPr>
            </a:pPr>
            <a:r>
              <a:t>Rationale: Modular design enables easy component swapping and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Design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Key Architectural Decisions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80472"/>
            <a:ext cx="137160" cy="1371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9684" y="1464293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Why RAG Architecture?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886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Grounds responses in actual document content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Avoids LLM hallucinations through context constraint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Enables querying documents beyond LLM token limits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Provides transparent source attribution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975558"/>
            <a:ext cx="137160" cy="1371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9684" y="28593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Why FAISS?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3886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Industry-standard vector similarity search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Highly optimized for speed and memory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Scales to millions of vectors efficiently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Local deployment (no external dependencies)</a:t>
            </a:r>
          </a:p>
        </p:txBody>
      </p:sp>
      <p:sp>
        <p:nvSpPr>
          <p:cNvPr id="10" name="Oval 9"/>
          <p:cNvSpPr/>
          <p:nvPr/>
        </p:nvSpPr>
        <p:spPr>
          <a:xfrm>
            <a:off x="4800600" y="1580472"/>
            <a:ext cx="137160" cy="1371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43084" y="1464293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Why Batch Processing?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28800"/>
            <a:ext cx="3886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Respects OpenAI API rate limits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Reduces total API calls and latency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Improves cost efficiency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Prevents request throttling errors</a:t>
            </a:r>
          </a:p>
        </p:txBody>
      </p:sp>
      <p:sp>
        <p:nvSpPr>
          <p:cNvPr id="13" name="Oval 12"/>
          <p:cNvSpPr/>
          <p:nvPr/>
        </p:nvSpPr>
        <p:spPr>
          <a:xfrm>
            <a:off x="4800600" y="2975558"/>
            <a:ext cx="137160" cy="1371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43084" y="28593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Why LangChain?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200400"/>
            <a:ext cx="3886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Abstracts complex RAG patterns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Provides composable, reusable chains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Easy integration with multiple LLMs and vector stores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Active ecosystem and extensive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Development Phases &amp; Milestones</a:t>
            </a:r>
          </a:p>
        </p:txBody>
      </p:sp>
      <p:sp>
        <p:nvSpPr>
          <p:cNvPr id="4" name="Oval 3"/>
          <p:cNvSpPr/>
          <p:nvPr/>
        </p:nvSpPr>
        <p:spPr>
          <a:xfrm>
            <a:off x="543316" y="1358761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9371" y="1358761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8011" y="126732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Environment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8011" y="158736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Install dependencies (PyMuPDF, LangChain, OpenAI, FAISS), Configure API keys</a:t>
            </a:r>
          </a:p>
        </p:txBody>
      </p:sp>
      <p:sp>
        <p:nvSpPr>
          <p:cNvPr id="8" name="Oval 7"/>
          <p:cNvSpPr/>
          <p:nvPr/>
        </p:nvSpPr>
        <p:spPr>
          <a:xfrm>
            <a:off x="543316" y="1998841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371" y="1998841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8011" y="190740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PDF Processing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8011" y="222744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Implement text extraction, Build chunking pipeline, Test with sample PDFs</a:t>
            </a:r>
          </a:p>
        </p:txBody>
      </p:sp>
      <p:sp>
        <p:nvSpPr>
          <p:cNvPr id="12" name="Oval 11"/>
          <p:cNvSpPr/>
          <p:nvPr/>
        </p:nvSpPr>
        <p:spPr>
          <a:xfrm>
            <a:off x="543316" y="2638921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371" y="2638921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011" y="254748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Embedding &amp;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011" y="286752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Integrate OpenAI embeddings, Implement batched processing, Build FAISS vector store</a:t>
            </a:r>
          </a:p>
        </p:txBody>
      </p:sp>
      <p:sp>
        <p:nvSpPr>
          <p:cNvPr id="16" name="Oval 15"/>
          <p:cNvSpPr/>
          <p:nvPr/>
        </p:nvSpPr>
        <p:spPr>
          <a:xfrm>
            <a:off x="543316" y="3279001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371" y="3279001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8011" y="318756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RAG Chain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8011" y="350760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Create retrieval chain, Design prompt template, Integrate LLM response generation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543316" y="3919081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371" y="3919081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011" y="382764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CLI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011" y="414768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Build interactive query loop, Add multi-file support, Implement error handling</a:t>
            </a:r>
          </a:p>
        </p:txBody>
      </p:sp>
      <p:sp>
        <p:nvSpPr>
          <p:cNvPr id="24" name="Oval 23"/>
          <p:cNvSpPr/>
          <p:nvPr/>
        </p:nvSpPr>
        <p:spPr>
          <a:xfrm>
            <a:off x="543316" y="4559161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9371" y="4559161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8011" y="446772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Testing &amp;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011" y="4787761"/>
            <a:ext cx="7680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Performance tuning, Edge case testing, Documentation and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65A82"/>
                </a:solidFill>
              </a:defRPr>
            </a:pPr>
            <a:r>
              <a:t>Challenges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1707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4748B"/>
                </a:solidFill>
              </a:defRPr>
            </a:pPr>
            <a:r>
              <a:t>Technical Obstacles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885" y="1157718"/>
            <a:ext cx="82296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sosceles Triangle 4"/>
          <p:cNvSpPr/>
          <p:nvPr/>
        </p:nvSpPr>
        <p:spPr>
          <a:xfrm>
            <a:off x="608765" y="1386318"/>
            <a:ext cx="320040" cy="320040"/>
          </a:xfrm>
          <a:prstGeom prst="triangl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5965" y="129487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Challenge: API Rate Limiting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965" y="161491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Solution: Implemented batched embedding generation (10 chunks per batch) to stay within OpenAI rate limits and reduce API costs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885" y="2163558"/>
            <a:ext cx="82296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>
            <a:off x="608765" y="2392158"/>
            <a:ext cx="320040" cy="320040"/>
          </a:xfrm>
          <a:prstGeom prst="triangl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5965" y="230071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Challenge: Context Window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965" y="262075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Solution: Tuned chunk size (1000 chars) and overlap (200 chars) to balance context preservation with retrieval 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885" y="3169398"/>
            <a:ext cx="82296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>
            <a:off x="608765" y="3397998"/>
            <a:ext cx="320040" cy="320040"/>
          </a:xfrm>
          <a:prstGeom prst="triangl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5965" y="3306557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Challenge: Response 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965" y="362659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Solution: Used temperature=0 and strict prompt template enforcing 'I don't know' responses when context lacks information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885" y="4175238"/>
            <a:ext cx="82296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Isosceles Triangle 16"/>
          <p:cNvSpPr/>
          <p:nvPr/>
        </p:nvSpPr>
        <p:spPr>
          <a:xfrm>
            <a:off x="608765" y="4403838"/>
            <a:ext cx="320040" cy="320040"/>
          </a:xfrm>
          <a:prstGeom prst="triangl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5965" y="4312398"/>
            <a:ext cx="7406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Challenge: Large PDF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965" y="4632438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Solution: PyMuPDF chosen for superior performance over alternatives; handles multi-hundred page documents efficiently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201168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Modular RAG architecture enables flexible, maintainable AI systems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46888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24688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Vector similarity search provides efficient, scalable document retrieval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92608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Proper chunking strategy is critical for context quality and performance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383280"/>
            <a:ext cx="274320" cy="2743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Grounding LLM responses in source documents prevents hallucinations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0EB02A-04D8-D9EE-89AE-A69077154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08625F-A7AE-3177-153D-8939DE549A56}"/>
              </a:ext>
            </a:extLst>
          </p:cNvPr>
          <p:cNvSpPr txBox="1"/>
          <p:nvPr/>
        </p:nvSpPr>
        <p:spPr>
          <a:xfrm>
            <a:off x="1495532" y="2060218"/>
            <a:ext cx="6145109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sz="6000" dirty="0"/>
              <a:t>Questions Please!</a:t>
            </a:r>
            <a:endParaRPr lang="en-US" sz="6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600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DD693-90EC-3D8A-2F08-94B7C4914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069FED-B89B-6DE4-B1C9-808A007848E5}"/>
              </a:ext>
            </a:extLst>
          </p:cNvPr>
          <p:cNvSpPr txBox="1"/>
          <p:nvPr/>
        </p:nvSpPr>
        <p:spPr>
          <a:xfrm>
            <a:off x="1965258" y="2060218"/>
            <a:ext cx="5213486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sz="6000" dirty="0"/>
              <a:t>THANK YOU!!!</a:t>
            </a:r>
            <a:endParaRPr lang="en-US" sz="6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8371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46</cp:revision>
  <dcterms:created xsi:type="dcterms:W3CDTF">2013-01-27T09:14:16Z</dcterms:created>
  <dcterms:modified xsi:type="dcterms:W3CDTF">2026-02-09T16:50:47Z</dcterms:modified>
  <cp:category/>
</cp:coreProperties>
</file>